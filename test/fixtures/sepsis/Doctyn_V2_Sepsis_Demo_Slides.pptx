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59B4"/>
                </a:solidFill>
                <a:latin typeface="Aptos"/>
              </a:defRPr>
            </a:pPr>
            <a:r>
              <a:t>DOCTYN  /  COURSE STUDIO  /  DEMO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D1D33"/>
                </a:solidFill>
                <a:latin typeface="Aptos"/>
              </a:defRPr>
            </a:pPr>
            <a:r>
              <a:t>Sepsis: Recognize, Assess, Respond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C6F87"/>
                </a:solidFill>
                <a:latin typeface="Aptos"/>
              </a:defRPr>
            </a:pPr>
            <a:r>
              <a:t>A clinical workflow demonstration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789920" cy="6309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118872" cy="630936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542032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D1D33"/>
                </a:solidFill>
                <a:latin typeface="Aptos"/>
              </a:defRPr>
            </a:pPr>
            <a:r>
              <a:t>From suspected infection to organ dysfunction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27832"/>
            <a:ext cx="10789920" cy="6309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227832"/>
            <a:ext cx="118872" cy="630936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346703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D1D33"/>
                </a:solidFill>
                <a:latin typeface="Aptos"/>
              </a:defRPr>
            </a:pPr>
            <a:r>
              <a:t>Structured assessment and escalation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32504"/>
            <a:ext cx="10789920" cy="6309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32504"/>
            <a:ext cx="118872" cy="630936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4151376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D1D33"/>
                </a:solidFill>
                <a:latin typeface="Aptos"/>
              </a:defRPr>
            </a:pPr>
            <a:r>
              <a:t>Training example • clinical review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6F87"/>
                </a:solidFill>
                <a:latin typeface="Aptos"/>
              </a:defRPr>
            </a:pPr>
            <a:r>
              <a:t>Educational demonstration only • Requires clinical review before publication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24535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59B4"/>
                </a:solidFill>
                <a:latin typeface="Aptos"/>
              </a:defRPr>
            </a:pPr>
            <a:r>
              <a:t>01/09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59B4"/>
                </a:solidFill>
                <a:latin typeface="Aptos"/>
              </a:defRPr>
            </a:pPr>
            <a:r>
              <a:t>DOCTYN  /  COURSE STUDIO  /  DEMO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D1D33"/>
                </a:solidFill>
                <a:latin typeface="Aptos"/>
              </a:defRPr>
            </a:pPr>
            <a:r>
              <a:t>What Is Sepsis?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C6F87"/>
                </a:solidFill>
                <a:latin typeface="Aptos"/>
              </a:defRPr>
            </a:pPr>
            <a:r>
              <a:t>Infection-associated organ dysfunction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32461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3246120" cy="100584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39F9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55848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D1D33"/>
                </a:solidFill>
                <a:latin typeface="Aptos"/>
              </a:defRPr>
            </a:pPr>
            <a:r>
              <a:t>Suspected or confirmed infection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86784" y="3273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59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2560320"/>
            <a:ext cx="32461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2560320"/>
            <a:ext cx="3246120" cy="100584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288036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39F9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355848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D1D33"/>
                </a:solidFill>
                <a:latin typeface="Aptos"/>
              </a:defRPr>
            </a:pPr>
            <a:r>
              <a:t>Dysregulated host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3273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59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7615" y="2560320"/>
            <a:ext cx="32461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57615" y="2560320"/>
            <a:ext cx="3246120" cy="100584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6215" y="288036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39F9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6215" y="3355848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D1D33"/>
                </a:solidFill>
                <a:latin typeface="Aptos"/>
              </a:defRPr>
            </a:pPr>
            <a:r>
              <a:t>Life-threatening organ dysfunction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63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6F87"/>
                </a:solidFill>
                <a:latin typeface="Aptos"/>
              </a:defRPr>
            </a:pPr>
            <a:r>
              <a:t>Educational demonstration only • Requires clinical review before publication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24535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59B4"/>
                </a:solidFill>
                <a:latin typeface="Aptos"/>
              </a:defRPr>
            </a:pPr>
            <a:r>
              <a:t>02/09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59B4"/>
                </a:solidFill>
                <a:latin typeface="Aptos"/>
              </a:defRPr>
            </a:pPr>
            <a:r>
              <a:t>DOCTYN  /  COURSE STUDIO  /  DEMO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D1D33"/>
                </a:solidFill>
                <a:latin typeface="Aptos"/>
              </a:defRPr>
            </a:pPr>
            <a:r>
              <a:t>How Sepsis Affects the Body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C6F87"/>
                </a:solidFill>
                <a:latin typeface="Aptos"/>
              </a:defRPr>
            </a:pPr>
            <a:r>
              <a:t>From inflammation to impaired perfusion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32461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3246120" cy="100584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39F9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55848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D1D33"/>
                </a:solidFill>
                <a:latin typeface="Aptos"/>
              </a:defRPr>
            </a:pPr>
            <a:r>
              <a:t>Inflammatory and endothelial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86784" y="3273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59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2560320"/>
            <a:ext cx="32461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2560320"/>
            <a:ext cx="3246120" cy="100584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288036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39F9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355848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D1D33"/>
                </a:solidFill>
                <a:latin typeface="Aptos"/>
              </a:defRPr>
            </a:pPr>
            <a:r>
              <a:t>Microcirculatory disturbance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3273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59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7615" y="2560320"/>
            <a:ext cx="32461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57615" y="2560320"/>
            <a:ext cx="3246120" cy="100584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6215" y="288036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39F9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6215" y="3355848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D1D33"/>
                </a:solidFill>
                <a:latin typeface="Aptos"/>
              </a:defRPr>
            </a:pPr>
            <a:r>
              <a:t>Reduced oxygen delivery and organ injury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63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6F87"/>
                </a:solidFill>
                <a:latin typeface="Aptos"/>
              </a:defRPr>
            </a:pPr>
            <a:r>
              <a:t>Educational demonstration only • Requires clinical review before publication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24535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59B4"/>
                </a:solidFill>
                <a:latin typeface="Aptos"/>
              </a:defRPr>
            </a:pPr>
            <a:r>
              <a:t>03/09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59B4"/>
                </a:solidFill>
                <a:latin typeface="Aptos"/>
              </a:defRPr>
            </a:pPr>
            <a:r>
              <a:t>DOCTYN  /  COURSE STUDIO  /  DEMO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D1D33"/>
                </a:solidFill>
                <a:latin typeface="Aptos"/>
              </a:defRPr>
            </a:pPr>
            <a:r>
              <a:t>Recognizing Clinical Deterioration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C6F87"/>
                </a:solidFill>
                <a:latin typeface="Aptos"/>
              </a:defRPr>
            </a:pPr>
            <a:r>
              <a:t>Look for changes, not a single number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789920" cy="6309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118872" cy="630936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542032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D1D33"/>
                </a:solidFill>
                <a:latin typeface="Aptos"/>
              </a:defRPr>
            </a:pPr>
            <a:r>
              <a:t>Altered mental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27832"/>
            <a:ext cx="10789920" cy="6309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227832"/>
            <a:ext cx="118872" cy="630936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346703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D1D33"/>
                </a:solidFill>
                <a:latin typeface="Aptos"/>
              </a:defRPr>
            </a:pPr>
            <a:r>
              <a:t>Tachypnea or worsening oxygenation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32504"/>
            <a:ext cx="10789920" cy="6309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32504"/>
            <a:ext cx="118872" cy="630936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4151376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D1D33"/>
                </a:solidFill>
                <a:latin typeface="Aptos"/>
              </a:defRPr>
            </a:pPr>
            <a:r>
              <a:t>Hypotension and reduced urine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6F87"/>
                </a:solidFill>
                <a:latin typeface="Aptos"/>
              </a:defRPr>
            </a:pPr>
            <a:r>
              <a:t>Educational demonstration only • Requires clinical review before publication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24535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59B4"/>
                </a:solidFill>
                <a:latin typeface="Aptos"/>
              </a:defRPr>
            </a:pPr>
            <a:r>
              <a:t>04/09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59B4"/>
                </a:solidFill>
                <a:latin typeface="Aptos"/>
              </a:defRPr>
            </a:pPr>
            <a:r>
              <a:t>DOCTYN  /  COURSE STUDIO  /  DEMO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D1D33"/>
                </a:solidFill>
                <a:latin typeface="Aptos"/>
              </a:defRPr>
            </a:pPr>
            <a:r>
              <a:t>Assessing Possible Sepsis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C6F87"/>
                </a:solidFill>
                <a:latin typeface="Aptos"/>
              </a:defRPr>
            </a:pPr>
            <a:r>
              <a:t>A structured first assessment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32461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3246120" cy="100584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39F9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55848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D1D33"/>
                </a:solidFill>
                <a:latin typeface="Aptos"/>
              </a:defRPr>
            </a:pPr>
            <a:r>
              <a:t>Vital signs and mental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86784" y="3273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59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2560320"/>
            <a:ext cx="32461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2560320"/>
            <a:ext cx="3246120" cy="100584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288036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39F9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355848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D1D33"/>
                </a:solidFill>
                <a:latin typeface="Aptos"/>
              </a:defRPr>
            </a:pPr>
            <a:r>
              <a:t>Source of infection and examination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3273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59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7615" y="2560320"/>
            <a:ext cx="32461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57615" y="2560320"/>
            <a:ext cx="3246120" cy="100584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6215" y="288036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39F9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6215" y="3355848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D1D33"/>
                </a:solidFill>
                <a:latin typeface="Aptos"/>
              </a:defRPr>
            </a:pPr>
            <a:r>
              <a:t>Labs, lactate and organ function as appropriate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63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6F87"/>
                </a:solidFill>
                <a:latin typeface="Aptos"/>
              </a:defRPr>
            </a:pPr>
            <a:r>
              <a:t>Educational demonstration only • Requires clinical review before publication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24535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59B4"/>
                </a:solidFill>
                <a:latin typeface="Aptos"/>
              </a:defRPr>
            </a:pPr>
            <a:r>
              <a:t>05/09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59B4"/>
                </a:solidFill>
                <a:latin typeface="Aptos"/>
              </a:defRPr>
            </a:pPr>
            <a:r>
              <a:t>DOCTYN  /  COURSE STUDIO  /  DEMO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D1D33"/>
                </a:solidFill>
                <a:latin typeface="Aptos"/>
              </a:defRPr>
            </a:pPr>
            <a:r>
              <a:t>Initial Response: Parallel Priorities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C6F87"/>
                </a:solidFill>
                <a:latin typeface="Aptos"/>
              </a:defRPr>
            </a:pPr>
            <a:r>
              <a:t>Early actions occur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32461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560320"/>
            <a:ext cx="3246120" cy="100584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39F9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55848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D1D33"/>
                </a:solidFill>
                <a:latin typeface="Aptos"/>
              </a:defRPr>
            </a:pPr>
            <a:r>
              <a:t>Escalate care and monitor closely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86784" y="3273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59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2560320"/>
            <a:ext cx="32461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2560320"/>
            <a:ext cx="3246120" cy="100584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288036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39F9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355848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D1D33"/>
                </a:solidFill>
                <a:latin typeface="Aptos"/>
              </a:defRPr>
            </a:pPr>
            <a:r>
              <a:t>Obtain indicated samples promptly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3273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C59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57615" y="2560320"/>
            <a:ext cx="32461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57615" y="2560320"/>
            <a:ext cx="3246120" cy="100584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86215" y="2880360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39F9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6215" y="3355848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D1D33"/>
                </a:solidFill>
                <a:latin typeface="Aptos"/>
              </a:defRPr>
            </a:pPr>
            <a:r>
              <a:t>Begin timely clinician-directed treatment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263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6F87"/>
                </a:solidFill>
                <a:latin typeface="Aptos"/>
              </a:defRPr>
            </a:pPr>
            <a:r>
              <a:t>Educational demonstration only • Requires clinical review before publication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24535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59B4"/>
                </a:solidFill>
                <a:latin typeface="Aptos"/>
              </a:defRPr>
            </a:pPr>
            <a:r>
              <a:t>06/09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59B4"/>
                </a:solidFill>
                <a:latin typeface="Aptos"/>
              </a:defRPr>
            </a:pPr>
            <a:r>
              <a:t>DOCTYN  /  COURSE STUDIO  /  DEMO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D1D33"/>
                </a:solidFill>
                <a:latin typeface="Aptos"/>
              </a:defRPr>
            </a:pPr>
            <a:r>
              <a:t>Reassessment and Escalation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C6F87"/>
                </a:solidFill>
                <a:latin typeface="Aptos"/>
              </a:defRPr>
            </a:pPr>
            <a:r>
              <a:t>Follow trends and response to 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182112"/>
            <a:ext cx="10241280" cy="50292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3008376"/>
            <a:ext cx="384048" cy="384048"/>
          </a:xfrm>
          <a:prstGeom prst="ellipse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D1D33"/>
                </a:solidFill>
                <a:latin typeface="Aptos"/>
              </a:defRPr>
            </a:pPr>
            <a:r>
              <a:t>Review perfusion and clinical trajectory</a:t>
            </a:r>
          </a:p>
        </p:txBody>
      </p:sp>
      <p:sp>
        <p:nvSpPr>
          <p:cNvPr id="10" name="Oval 9"/>
          <p:cNvSpPr/>
          <p:nvPr/>
        </p:nvSpPr>
        <p:spPr>
          <a:xfrm>
            <a:off x="4892040" y="3008376"/>
            <a:ext cx="384048" cy="384048"/>
          </a:xfrm>
          <a:prstGeom prst="ellipse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36576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D1D33"/>
                </a:solidFill>
                <a:latin typeface="Aptos"/>
              </a:defRPr>
            </a:pPr>
            <a:r>
              <a:t>Reassess treatment and suspected source</a:t>
            </a:r>
          </a:p>
        </p:txBody>
      </p:sp>
      <p:sp>
        <p:nvSpPr>
          <p:cNvPr id="12" name="Oval 11"/>
          <p:cNvSpPr/>
          <p:nvPr/>
        </p:nvSpPr>
        <p:spPr>
          <a:xfrm>
            <a:off x="8869680" y="3008376"/>
            <a:ext cx="384048" cy="384048"/>
          </a:xfrm>
          <a:prstGeom prst="ellipse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36576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D1D33"/>
                </a:solidFill>
                <a:latin typeface="Aptos"/>
              </a:defRPr>
            </a:pPr>
            <a:r>
              <a:t>Escalate if deterioration persists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63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6F87"/>
                </a:solidFill>
                <a:latin typeface="Aptos"/>
              </a:defRPr>
            </a:pPr>
            <a:r>
              <a:t>Educational demonstration only • Requires clinical review before publication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24535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59B4"/>
                </a:solidFill>
                <a:latin typeface="Aptos"/>
              </a:defRPr>
            </a:pPr>
            <a:r>
              <a:t>07/09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59B4"/>
                </a:solidFill>
                <a:latin typeface="Aptos"/>
              </a:defRPr>
            </a:pPr>
            <a:r>
              <a:t>DOCTYN  /  COURSE STUDIO  /  DEMO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D1D33"/>
                </a:solidFill>
                <a:latin typeface="Aptos"/>
              </a:defRPr>
            </a:pPr>
            <a:r>
              <a:t>Clinical Case: Possible Sepsis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C6F87"/>
                </a:solidFill>
                <a:latin typeface="Aptos"/>
              </a:defRPr>
            </a:pPr>
            <a:r>
              <a:t>Apply the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466344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243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59B4"/>
                </a:solidFill>
                <a:latin typeface="Aptos"/>
              </a:defRPr>
            </a:pPr>
            <a:r>
              <a:t>CLINICAL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D33"/>
                </a:solidFill>
                <a:latin typeface="Aptos"/>
              </a:defRPr>
            </a:pPr>
            <a:r>
              <a:t>Fever + new confusion</a:t>
            </a:r>
            <a:br/>
            <a:r>
              <a:t>Rapid breathing + hypotension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87568" y="2331720"/>
            <a:ext cx="5669280" cy="2514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262432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C59B4"/>
                </a:solidFill>
                <a:latin typeface="Aptos"/>
              </a:defRPr>
            </a:pPr>
            <a:r>
              <a:t>RESPONSE PATHWAY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1089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D1D33"/>
                </a:solidFill>
                <a:latin typeface="Aptos"/>
              </a:defRPr>
            </a:pPr>
            <a:r>
              <a:t>Recognize → Assess → Escalate → Reassess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63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6F87"/>
                </a:solidFill>
                <a:latin typeface="Aptos"/>
              </a:defRPr>
            </a:pPr>
            <a:r>
              <a:t>Educational demonstration only • Requires clinical review before publication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24535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59B4"/>
                </a:solidFill>
                <a:latin typeface="Aptos"/>
              </a:defRPr>
            </a:pPr>
            <a:r>
              <a:t>08/09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59B4"/>
                </a:solidFill>
                <a:latin typeface="Aptos"/>
              </a:defRPr>
            </a:pPr>
            <a:r>
              <a:t>DOCTYN  /  COURSE STUDIO  /  DEMO 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D1D33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5361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C6F87"/>
                </a:solidFill>
                <a:latin typeface="Aptos"/>
              </a:defRPr>
            </a:pPr>
            <a:r>
              <a:t>Recognize early. Reassess often.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789920" cy="6309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118872" cy="630936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542032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D1D33"/>
                </a:solidFill>
                <a:latin typeface="Aptos"/>
              </a:defRPr>
            </a:pPr>
            <a:r>
              <a:t>Sepsis is organ dysfunction associated with infection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27832"/>
            <a:ext cx="10789920" cy="6309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227832"/>
            <a:ext cx="118872" cy="630936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3346703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D1D33"/>
                </a:solidFill>
                <a:latin typeface="Aptos"/>
              </a:defRPr>
            </a:pPr>
            <a:r>
              <a:t>Combine clinical signs with structured assessment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32504"/>
            <a:ext cx="10789920" cy="63093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32504"/>
            <a:ext cx="118872" cy="630936"/>
          </a:xfrm>
          <a:prstGeom prst="rect">
            <a:avLst/>
          </a:prstGeom>
          <a:solidFill>
            <a:srgbClr val="139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4151376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D1D33"/>
                </a:solidFill>
                <a:latin typeface="Aptos"/>
              </a:defRPr>
            </a:pPr>
            <a:r>
              <a:t>Follow local pathways and clinician judgment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636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C6F87"/>
                </a:solidFill>
                <a:latin typeface="Aptos"/>
              </a:defRPr>
            </a:pPr>
            <a:r>
              <a:t>Educational demonstration only • Requires clinical review before publication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245352"/>
            <a:ext cx="502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C59B4"/>
                </a:solidFill>
                <a:latin typeface="Aptos"/>
              </a:defRPr>
            </a:pPr>
            <a:r>
              <a:t>09/09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